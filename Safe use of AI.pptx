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_rels/notesSlide6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1.xml.rels" ContentType="application/vnd.openxmlformats-package.relationships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7.xml" ContentType="application/vnd.openxmlformats-officedocument.presentationml.notes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13.xml.rels" ContentType="application/vnd.openxmlformats-package.relationships+xml"/>
  <Override PartName="/ppt/slides/_rels/slide16.xml.rels" ContentType="application/vnd.openxmlformats-package.relationships+xml"/>
  <Override PartName="/ppt/slides/_rels/slide12.xml.rels" ContentType="application/vnd.openxmlformats-package.relationships+xml"/>
  <Override PartName="/ppt/slides/_rels/slide15.xml.rels" ContentType="application/vnd.openxmlformats-package.relationships+xml"/>
  <Override PartName="/ppt/slides/_rels/slide9.xml.rels" ContentType="application/vnd.openxmlformats-package.relationships+xml"/>
  <Override PartName="/ppt/slides/_rels/slide14.xml.rels" ContentType="application/vnd.openxmlformats-package.relationships+xml"/>
  <Override PartName="/ppt/slides/_rels/slide11.xml.rels" ContentType="application/vnd.openxmlformats-package.relationships+xml"/>
  <Override PartName="/ppt/slides/_rels/slide1.xml.rels" ContentType="application/vnd.openxmlformats-package.relationships+xml"/>
  <Override PartName="/ppt/slides/_rels/slide4.xml.rels" ContentType="application/vnd.openxmlformats-package.relationships+xml"/>
  <Override PartName="/ppt/slides/_rels/slide2.xml.rels" ContentType="application/vnd.openxmlformats-package.relationships+xml"/>
  <Override PartName="/ppt/slides/_rels/slide5.xml.rels" ContentType="application/vnd.openxmlformats-package.relationships+xml"/>
  <Override PartName="/ppt/slides/_rels/slide3.xml.rels" ContentType="application/vnd.openxmlformats-package.relationships+xml"/>
  <Override PartName="/ppt/slides/_rels/slide6.xml.rels" ContentType="application/vnd.openxmlformats-package.relationships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GB" sz="2000" spc="-1" strike="noStrike">
                <a:latin typeface="Arial"/>
              </a:rPr>
              <a:t>Click to edit the notes' format</a:t>
            </a:r>
            <a:endParaRPr b="0" lang="en-GB" sz="2000" spc="-1" strike="noStrike">
              <a:latin typeface="Arial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GB" sz="1400" spc="-1" strike="noStrike">
                <a:latin typeface="Times New Roman"/>
              </a:rPr>
              <a:t>&lt;header&gt;</a:t>
            </a:r>
            <a:endParaRPr b="0" lang="en-GB" sz="1400" spc="-1" strike="noStrike">
              <a:latin typeface="Times New Roman"/>
            </a:endParaRPr>
          </a:p>
        </p:txBody>
      </p:sp>
      <p:sp>
        <p:nvSpPr>
          <p:cNvPr id="81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GB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GB" sz="1400" spc="-1" strike="noStrike">
                <a:latin typeface="Times New Roman"/>
              </a:rPr>
              <a:t>&lt;date/time&gt;</a:t>
            </a:r>
            <a:endParaRPr b="0" lang="en-GB" sz="1400" spc="-1" strike="noStrike">
              <a:latin typeface="Times New Roman"/>
            </a:endParaRPr>
          </a:p>
        </p:txBody>
      </p:sp>
      <p:sp>
        <p:nvSpPr>
          <p:cNvPr id="82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GB" sz="1400" spc="-1" strike="noStrike">
                <a:latin typeface="Times New Roman"/>
              </a:defRPr>
            </a:lvl1pPr>
          </a:lstStyle>
          <a:p>
            <a:r>
              <a:rPr b="0" lang="en-GB" sz="1400" spc="-1" strike="noStrike">
                <a:latin typeface="Times New Roman"/>
              </a:rPr>
              <a:t>&lt;footer&gt;</a:t>
            </a:r>
            <a:endParaRPr b="0" lang="en-GB" sz="1400" spc="-1" strike="noStrike">
              <a:latin typeface="Times New Roman"/>
            </a:endParaRPr>
          </a:p>
        </p:txBody>
      </p:sp>
      <p:sp>
        <p:nvSpPr>
          <p:cNvPr id="83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GB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ACB0B4AF-6DBA-45A4-8198-C82629566BB3}" type="slidenum">
              <a:rPr b="0" lang="en-GB" sz="1400" spc="-1" strike="noStrike">
                <a:latin typeface="Times New Roman"/>
              </a:rPr>
              <a:t>&lt;number&gt;</a:t>
            </a:fld>
            <a:endParaRPr b="0" lang="en-GB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GB" sz="2000" spc="-1" strike="noStrike">
              <a:latin typeface="Arial"/>
            </a:endParaRPr>
          </a:p>
        </p:txBody>
      </p:sp>
      <p:sp>
        <p:nvSpPr>
          <p:cNvPr id="129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Arial Regular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621BBE4-EA2C-4F4E-91AD-13527C801242}" type="slidenum">
              <a:rPr b="0" lang="en-US" sz="1200" spc="-1" strike="noStrike">
                <a:solidFill>
                  <a:srgbClr val="000000"/>
                </a:solidFill>
                <a:latin typeface="Arial Regular"/>
                <a:ea typeface="+mn-ea"/>
              </a:rPr>
              <a:t>&lt;number&gt;</a:t>
            </a:fld>
            <a:endParaRPr b="0" lang="en-GB" sz="12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sldImg"/>
          </p:nvPr>
        </p:nvSpPr>
        <p:spPr>
          <a:xfrm>
            <a:off x="217440" y="812880"/>
            <a:ext cx="7124400" cy="4008240"/>
          </a:xfrm>
          <a:prstGeom prst="rect">
            <a:avLst/>
          </a:prstGeom>
          <a:ln w="0">
            <a:noFill/>
          </a:ln>
        </p:spPr>
      </p:sp>
      <p:sp>
        <p:nvSpPr>
          <p:cNvPr id="131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280" cy="4810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GB" sz="2000" spc="-1" strike="noStrike">
              <a:latin typeface="Arial"/>
            </a:endParaRPr>
          </a:p>
        </p:txBody>
      </p:sp>
      <p:sp>
        <p:nvSpPr>
          <p:cNvPr id="132" name="PlaceHolder 3"/>
          <p:cNvSpPr>
            <a:spLocks noGrp="1"/>
          </p:cNvSpPr>
          <p:nvPr>
            <p:ph type="sldNum" idx="5"/>
          </p:nvPr>
        </p:nvSpPr>
        <p:spPr>
          <a:xfrm>
            <a:off x="4278960" y="10157400"/>
            <a:ext cx="3280320" cy="53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FB5563F-D8E5-41E0-88A2-849A3E1BD92C}" type="slidenum">
              <a:rPr b="0" lang="en-US" sz="1400" spc="-1" strike="noStrike">
                <a:solidFill>
                  <a:srgbClr val="000000"/>
                </a:solidFill>
                <a:latin typeface="Times New Roman"/>
                <a:ea typeface="+mn-ea"/>
              </a:rPr>
              <a:t>&lt;number&gt;</a:t>
            </a:fld>
            <a:endParaRPr b="0" lang="en-GB" sz="14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sldImg"/>
          </p:nvPr>
        </p:nvSpPr>
        <p:spPr>
          <a:xfrm>
            <a:off x="217440" y="812880"/>
            <a:ext cx="7124400" cy="4008240"/>
          </a:xfrm>
          <a:prstGeom prst="rect">
            <a:avLst/>
          </a:prstGeom>
          <a:ln w="0">
            <a:noFill/>
          </a:ln>
        </p:spPr>
      </p:sp>
      <p:sp>
        <p:nvSpPr>
          <p:cNvPr id="13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280" cy="4810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GB" sz="2000" spc="-1" strike="noStrike">
              <a:latin typeface="Arial"/>
            </a:endParaRPr>
          </a:p>
        </p:txBody>
      </p:sp>
      <p:sp>
        <p:nvSpPr>
          <p:cNvPr id="135" name="PlaceHolder 3"/>
          <p:cNvSpPr>
            <a:spLocks noGrp="1"/>
          </p:cNvSpPr>
          <p:nvPr>
            <p:ph type="sldNum" idx="6"/>
          </p:nvPr>
        </p:nvSpPr>
        <p:spPr>
          <a:xfrm>
            <a:off x="4278960" y="10157400"/>
            <a:ext cx="3280320" cy="53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AE604843-8DD7-4687-9F09-01FDCED98237}" type="slidenum">
              <a:rPr b="0" lang="en-US" sz="1400" spc="-1" strike="noStrike">
                <a:solidFill>
                  <a:srgbClr val="000000"/>
                </a:solidFill>
                <a:latin typeface="Times New Roman"/>
                <a:ea typeface="+mn-ea"/>
              </a:rPr>
              <a:t>&lt;number&gt;</a:t>
            </a:fld>
            <a:endParaRPr b="0" lang="en-GB" sz="14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GB" sz="2000" spc="-1" strike="noStrike">
              <a:latin typeface="Arial"/>
            </a:endParaRPr>
          </a:p>
        </p:txBody>
      </p:sp>
      <p:sp>
        <p:nvSpPr>
          <p:cNvPr id="138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Arial Regular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D9E4F41-3B7E-471C-AF3C-C9283E5B6523}" type="slidenum">
              <a:rPr b="0" lang="en-US" sz="1200" spc="-1" strike="noStrike">
                <a:solidFill>
                  <a:srgbClr val="000000"/>
                </a:solidFill>
                <a:latin typeface="Arial Regular"/>
                <a:ea typeface="+mn-ea"/>
              </a:rPr>
              <a:t>&lt;number&gt;</a:t>
            </a:fld>
            <a:endParaRPr b="0" lang="en-GB" sz="12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GB" sz="2000" spc="-1" strike="noStrike">
              <a:latin typeface="Arial"/>
            </a:endParaRPr>
          </a:p>
        </p:txBody>
      </p:sp>
      <p:sp>
        <p:nvSpPr>
          <p:cNvPr id="141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Arial Regular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E68E5D7-7578-47E8-997F-5F523A263EBE}" type="slidenum">
              <a:rPr b="0" lang="en-US" sz="1200" spc="-1" strike="noStrike">
                <a:solidFill>
                  <a:srgbClr val="000000"/>
                </a:solidFill>
                <a:latin typeface="Arial Regular"/>
                <a:ea typeface="+mn-ea"/>
              </a:rPr>
              <a:t>&lt;number&gt;</a:t>
            </a:fld>
            <a:endParaRPr b="0" lang="en-GB" sz="12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GB" sz="2000" spc="-1" strike="noStrike">
              <a:latin typeface="Arial"/>
            </a:endParaRPr>
          </a:p>
        </p:txBody>
      </p:sp>
      <p:sp>
        <p:nvSpPr>
          <p:cNvPr id="144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Arial Regular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7ED6698-7AEE-4188-849B-4103A0658FAF}" type="slidenum">
              <a:rPr b="0" lang="en-US" sz="1200" spc="-1" strike="noStrike">
                <a:solidFill>
                  <a:srgbClr val="000000"/>
                </a:solidFill>
                <a:latin typeface="Arial Regular"/>
                <a:ea typeface="+mn-ea"/>
              </a:rPr>
              <a:t>&lt;number&gt;</a:t>
            </a:fld>
            <a:endParaRPr b="0" lang="en-GB" sz="1200" spc="-1" strike="noStrike"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GB" sz="2000" spc="-1" strike="noStrike">
              <a:latin typeface="Arial"/>
            </a:endParaRPr>
          </a:p>
        </p:txBody>
      </p:sp>
      <p:sp>
        <p:nvSpPr>
          <p:cNvPr id="147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Arial Regular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8254853-9AD4-4996-BE6A-55BD96BA68DE}" type="slidenum">
              <a:rPr b="0" lang="en-US" sz="1200" spc="-1" strike="noStrike">
                <a:solidFill>
                  <a:srgbClr val="000000"/>
                </a:solidFill>
                <a:latin typeface="Arial Regular"/>
                <a:ea typeface="+mn-ea"/>
              </a:rPr>
              <a:t>&lt;number&gt;</a:t>
            </a:fld>
            <a:endParaRPr b="0" lang="en-GB" sz="1200" spc="-1" strike="noStrike"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GB" sz="2000" spc="-1" strike="noStrike">
              <a:latin typeface="Arial"/>
            </a:endParaRPr>
          </a:p>
        </p:txBody>
      </p:sp>
      <p:sp>
        <p:nvSpPr>
          <p:cNvPr id="150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Arial Regular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AD0184F-7DCB-44EB-9D62-D13948D0D460}" type="slidenum">
              <a:rPr b="0" lang="en-US" sz="1200" spc="-1" strike="noStrike">
                <a:solidFill>
                  <a:srgbClr val="000000"/>
                </a:solidFill>
                <a:latin typeface="Arial Regular"/>
                <a:ea typeface="+mn-ea"/>
              </a:rPr>
              <a:t>&lt;number&gt;</a:t>
            </a:fld>
            <a:endParaRPr b="0" lang="en-GB" sz="1200" spc="-1" strike="noStrike"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GB" sz="2000" spc="-1" strike="noStrike">
              <a:latin typeface="Arial"/>
            </a:endParaRPr>
          </a:p>
        </p:txBody>
      </p:sp>
      <p:sp>
        <p:nvSpPr>
          <p:cNvPr id="153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Arial Regular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743B2990-CDED-4B28-8D7B-71B7C5599A6B}" type="slidenum">
              <a:rPr b="0" lang="en-US" sz="1200" spc="-1" strike="noStrike">
                <a:solidFill>
                  <a:srgbClr val="000000"/>
                </a:solidFill>
                <a:latin typeface="Arial Regular"/>
                <a:ea typeface="+mn-ea"/>
              </a:rPr>
              <a:t>&lt;number&gt;</a:t>
            </a:fld>
            <a:endParaRPr b="0" lang="en-GB" sz="1200" spc="-1" strike="noStrike"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GB" sz="2000" spc="-1" strike="noStrike">
              <a:latin typeface="Arial"/>
            </a:endParaRPr>
          </a:p>
        </p:txBody>
      </p:sp>
      <p:sp>
        <p:nvSpPr>
          <p:cNvPr id="156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Arial Regular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CF42352-2C0D-487D-BA5F-5B86B7FD91A3}" type="slidenum">
              <a:rPr b="0" lang="en-US" sz="1200" spc="-1" strike="noStrike">
                <a:solidFill>
                  <a:srgbClr val="000000"/>
                </a:solidFill>
                <a:latin typeface="Arial Regular"/>
                <a:ea typeface="+mn-ea"/>
              </a:rPr>
              <a:t>&lt;number&gt;</a:t>
            </a:fld>
            <a:endParaRPr b="0" lang="en-GB" sz="1200" spc="-1" strike="noStrike"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GB" sz="2000" spc="-1" strike="noStrike">
              <a:latin typeface="Arial"/>
            </a:endParaRPr>
          </a:p>
        </p:txBody>
      </p:sp>
      <p:sp>
        <p:nvSpPr>
          <p:cNvPr id="159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Arial Regular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4ACE5AC-486F-4529-8F14-CC295C0FA1A8}" type="slidenum">
              <a:rPr b="0" lang="en-US" sz="1200" spc="-1" strike="noStrike">
                <a:solidFill>
                  <a:srgbClr val="000000"/>
                </a:solidFill>
                <a:latin typeface="Arial Regular"/>
                <a:ea typeface="+mn-ea"/>
              </a:rPr>
              <a:t>&lt;number&gt;</a:t>
            </a:fld>
            <a:endParaRPr b="0" lang="en-GB" sz="1200" spc="-1" strike="noStrike"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sldImg"/>
          </p:nvPr>
        </p:nvSpPr>
        <p:spPr>
          <a:xfrm>
            <a:off x="217440" y="812880"/>
            <a:ext cx="7124400" cy="4008240"/>
          </a:xfrm>
          <a:prstGeom prst="rect">
            <a:avLst/>
          </a:prstGeom>
          <a:ln w="0">
            <a:noFill/>
          </a:ln>
        </p:spPr>
      </p:sp>
      <p:sp>
        <p:nvSpPr>
          <p:cNvPr id="161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280" cy="4810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GB" sz="2000" spc="-1" strike="noStrike">
              <a:latin typeface="Arial"/>
            </a:endParaRPr>
          </a:p>
        </p:txBody>
      </p:sp>
      <p:sp>
        <p:nvSpPr>
          <p:cNvPr id="162" name="PlaceHolder 3"/>
          <p:cNvSpPr>
            <a:spLocks noGrp="1"/>
          </p:cNvSpPr>
          <p:nvPr>
            <p:ph type="sldNum" idx="15"/>
          </p:nvPr>
        </p:nvSpPr>
        <p:spPr>
          <a:xfrm>
            <a:off x="4278960" y="10157400"/>
            <a:ext cx="3280320" cy="53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ABC29E0-A6FD-4473-9B39-2693592B7E78}" type="slidenum">
              <a:rPr b="0" lang="en-US" sz="1400" spc="-1" strike="noStrike">
                <a:solidFill>
                  <a:srgbClr val="000000"/>
                </a:solidFill>
                <a:latin typeface="Times New Roman"/>
                <a:ea typeface="+mn-ea"/>
              </a:rPr>
              <a:t>&lt;number&gt;</a:t>
            </a:fld>
            <a:endParaRPr b="0" lang="en-GB" sz="1400" spc="-1" strike="noStrike"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 type="sldImg"/>
          </p:nvPr>
        </p:nvSpPr>
        <p:spPr>
          <a:xfrm>
            <a:off x="217440" y="812880"/>
            <a:ext cx="7124400" cy="4008240"/>
          </a:xfrm>
          <a:prstGeom prst="rect">
            <a:avLst/>
          </a:prstGeom>
          <a:ln w="0">
            <a:noFill/>
          </a:ln>
        </p:spPr>
      </p:sp>
      <p:sp>
        <p:nvSpPr>
          <p:cNvPr id="16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280" cy="4810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GB" sz="2000" spc="-1" strike="noStrike">
              <a:latin typeface="Arial"/>
            </a:endParaRPr>
          </a:p>
        </p:txBody>
      </p:sp>
      <p:sp>
        <p:nvSpPr>
          <p:cNvPr id="165" name="PlaceHolder 3"/>
          <p:cNvSpPr>
            <a:spLocks noGrp="1"/>
          </p:cNvSpPr>
          <p:nvPr>
            <p:ph type="sldNum" idx="16"/>
          </p:nvPr>
        </p:nvSpPr>
        <p:spPr>
          <a:xfrm>
            <a:off x="4278960" y="10157400"/>
            <a:ext cx="3280320" cy="53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A7F7B6E-BC31-4AEF-94FA-A6DD0236EBC9}" type="slidenum">
              <a:rPr b="0" lang="en-US" sz="1400" spc="-1" strike="noStrike">
                <a:solidFill>
                  <a:srgbClr val="000000"/>
                </a:solidFill>
                <a:latin typeface="Times New Roman"/>
                <a:ea typeface="+mn-ea"/>
              </a:rPr>
              <a:t>&lt;number&gt;</a:t>
            </a:fld>
            <a:endParaRPr b="0" lang="en-GB" sz="1400" spc="-1" strike="noStrike"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PlaceHolder 1"/>
          <p:cNvSpPr>
            <a:spLocks noGrp="1"/>
          </p:cNvSpPr>
          <p:nvPr>
            <p:ph type="sldImg"/>
          </p:nvPr>
        </p:nvSpPr>
        <p:spPr>
          <a:xfrm>
            <a:off x="217440" y="812880"/>
            <a:ext cx="7124400" cy="4008240"/>
          </a:xfrm>
          <a:prstGeom prst="rect">
            <a:avLst/>
          </a:prstGeom>
          <a:ln w="0">
            <a:noFill/>
          </a:ln>
        </p:spPr>
      </p:sp>
      <p:sp>
        <p:nvSpPr>
          <p:cNvPr id="16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280" cy="4810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GB" sz="2000" spc="-1" strike="noStrike">
              <a:latin typeface="Arial"/>
            </a:endParaRPr>
          </a:p>
        </p:txBody>
      </p:sp>
      <p:sp>
        <p:nvSpPr>
          <p:cNvPr id="168" name="PlaceHolder 3"/>
          <p:cNvSpPr>
            <a:spLocks noGrp="1"/>
          </p:cNvSpPr>
          <p:nvPr>
            <p:ph type="sldNum" idx="17"/>
          </p:nvPr>
        </p:nvSpPr>
        <p:spPr>
          <a:xfrm>
            <a:off x="4278960" y="10157400"/>
            <a:ext cx="3280320" cy="53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664CE73-B913-493B-8D97-2EAAF75EC89F}" type="slidenum">
              <a:rPr b="0" lang="en-US" sz="1400" spc="-1" strike="noStrike">
                <a:solidFill>
                  <a:srgbClr val="000000"/>
                </a:solidFill>
                <a:latin typeface="Times New Roman"/>
                <a:ea typeface="+mn-ea"/>
              </a:rPr>
              <a:t>&lt;number&gt;</a:t>
            </a:fld>
            <a:endParaRPr b="0" lang="en-GB" sz="1400" spc="-1" strike="noStrike"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PlaceHolder 1"/>
          <p:cNvSpPr>
            <a:spLocks noGrp="1"/>
          </p:cNvSpPr>
          <p:nvPr>
            <p:ph type="sldImg"/>
          </p:nvPr>
        </p:nvSpPr>
        <p:spPr>
          <a:xfrm>
            <a:off x="217440" y="812880"/>
            <a:ext cx="7124400" cy="4008240"/>
          </a:xfrm>
          <a:prstGeom prst="rect">
            <a:avLst/>
          </a:prstGeom>
          <a:ln w="0">
            <a:noFill/>
          </a:ln>
        </p:spPr>
      </p:sp>
      <p:sp>
        <p:nvSpPr>
          <p:cNvPr id="170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280" cy="4810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GB" sz="2000" spc="-1" strike="noStrike">
              <a:latin typeface="Arial"/>
            </a:endParaRPr>
          </a:p>
        </p:txBody>
      </p:sp>
      <p:sp>
        <p:nvSpPr>
          <p:cNvPr id="171" name="PlaceHolder 3"/>
          <p:cNvSpPr>
            <a:spLocks noGrp="1"/>
          </p:cNvSpPr>
          <p:nvPr>
            <p:ph type="sldNum" idx="18"/>
          </p:nvPr>
        </p:nvSpPr>
        <p:spPr>
          <a:xfrm>
            <a:off x="4278960" y="10157400"/>
            <a:ext cx="3280320" cy="53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EAE0DB0-9CD9-4A12-9761-C6C0C760CBAC}" type="slidenum">
              <a:rPr b="0" lang="en-US" sz="1400" spc="-1" strike="noStrike">
                <a:solidFill>
                  <a:srgbClr val="000000"/>
                </a:solidFill>
                <a:latin typeface="Times New Roman"/>
                <a:ea typeface="+mn-ea"/>
              </a:rPr>
              <a:t>&lt;number&gt;</a:t>
            </a:fld>
            <a:endParaRPr b="0" lang="en-GB" sz="1400" spc="-1" strike="noStrike"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GB" sz="2000" spc="-1" strike="noStrike">
              <a:latin typeface="Arial"/>
            </a:endParaRPr>
          </a:p>
        </p:txBody>
      </p:sp>
      <p:sp>
        <p:nvSpPr>
          <p:cNvPr id="174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Arial Regular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50583F6-5DC5-48A1-9AFD-5710C28F27D0}" type="slidenum">
              <a:rPr b="0" lang="en-US" sz="1200" spc="-1" strike="noStrike">
                <a:solidFill>
                  <a:srgbClr val="000000"/>
                </a:solidFill>
                <a:latin typeface="Arial Regular"/>
                <a:ea typeface="+mn-ea"/>
              </a:rPr>
              <a:t>&lt;number&gt;</a:t>
            </a:fld>
            <a:endParaRPr b="0" lang="en-GB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Relationship Id="rId9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1f2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Picture 8" descr=""/>
          <p:cNvPicPr/>
          <p:nvPr/>
        </p:nvPicPr>
        <p:blipFill>
          <a:blip r:embed="rId2"/>
          <a:stretch/>
        </p:blipFill>
        <p:spPr>
          <a:xfrm>
            <a:off x="97200" y="5558400"/>
            <a:ext cx="2351880" cy="1212840"/>
          </a:xfrm>
          <a:prstGeom prst="rect">
            <a:avLst/>
          </a:prstGeom>
          <a:ln w="0">
            <a:noFill/>
          </a:ln>
        </p:spPr>
      </p:pic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Picture 8" descr=""/>
          <p:cNvPicPr/>
          <p:nvPr/>
        </p:nvPicPr>
        <p:blipFill>
          <a:blip r:embed="rId2"/>
          <a:stretch/>
        </p:blipFill>
        <p:spPr>
          <a:xfrm>
            <a:off x="97200" y="5558400"/>
            <a:ext cx="2351880" cy="1212840"/>
          </a:xfrm>
          <a:prstGeom prst="rect">
            <a:avLst/>
          </a:prstGeom>
          <a:ln w="0">
            <a:noFill/>
          </a:ln>
        </p:spPr>
      </p:pic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bg>
      <p:bgPr>
        <a:solidFill>
          <a:srgbClr val="f1f2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TextBox 2"/>
          <p:cNvSpPr/>
          <p:nvPr/>
        </p:nvSpPr>
        <p:spPr>
          <a:xfrm>
            <a:off x="550080" y="3128040"/>
            <a:ext cx="10742760" cy="82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GB" sz="4800" spc="-1" strike="noStrike">
                <a:solidFill>
                  <a:srgbClr val="2e2c61"/>
                </a:solidFill>
                <a:latin typeface="Arial"/>
                <a:ea typeface="DejaVu Sans"/>
              </a:rPr>
              <a:t>Safe use of AI</a:t>
            </a:r>
            <a:endParaRPr b="0" lang="en-GB" sz="4800" spc="-1" strike="noStrike">
              <a:latin typeface="Arial"/>
            </a:endParaRPr>
          </a:p>
        </p:txBody>
      </p:sp>
      <p:pic>
        <p:nvPicPr>
          <p:cNvPr id="85" name="Picture 6" descr=""/>
          <p:cNvPicPr/>
          <p:nvPr/>
        </p:nvPicPr>
        <p:blipFill>
          <a:blip r:embed="rId1"/>
          <a:stretch/>
        </p:blipFill>
        <p:spPr>
          <a:xfrm>
            <a:off x="151200" y="140400"/>
            <a:ext cx="3618720" cy="1866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1f2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Text 0"/>
          <p:cNvSpPr/>
          <p:nvPr/>
        </p:nvSpPr>
        <p:spPr>
          <a:xfrm>
            <a:off x="548640" y="365760"/>
            <a:ext cx="110638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141414"/>
                </a:solidFill>
                <a:latin typeface="Arial"/>
                <a:ea typeface="Arial"/>
              </a:rPr>
              <a:t>AI is part of our world now</a:t>
            </a:r>
            <a:endParaRPr b="0" lang="en-GB" sz="4000" spc="-1" strike="noStrike">
              <a:latin typeface="Arial"/>
            </a:endParaRPr>
          </a:p>
        </p:txBody>
      </p:sp>
      <p:sp>
        <p:nvSpPr>
          <p:cNvPr id="87" name="Text 1"/>
          <p:cNvSpPr/>
          <p:nvPr/>
        </p:nvSpPr>
        <p:spPr>
          <a:xfrm>
            <a:off x="548640" y="1828800"/>
            <a:ext cx="11091240" cy="41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>
              <a:lnSpc>
                <a:spcPct val="103000"/>
              </a:lnSpc>
              <a:spcAft>
                <a:spcPts val="1599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Arial"/>
              </a:rPr>
              <a:t>AI can help you study, write, search, make images, and answer questions in seconds</a:t>
            </a:r>
            <a:endParaRPr b="0" lang="en-GB" sz="2400" spc="-1" strike="noStrike">
              <a:latin typeface="Arial"/>
            </a:endParaRPr>
          </a:p>
          <a:p>
            <a:pPr marL="343080" indent="-343080">
              <a:lnSpc>
                <a:spcPct val="103000"/>
              </a:lnSpc>
              <a:spcAft>
                <a:spcPts val="1599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Arial"/>
              </a:rPr>
              <a:t>But it also makes things up, gets things wrong, and can be misused (sometimes with serious consequences)</a:t>
            </a:r>
            <a:endParaRPr b="0" lang="en-GB" sz="2400" spc="-1" strike="noStrike">
              <a:latin typeface="Arial"/>
            </a:endParaRPr>
          </a:p>
          <a:p>
            <a:pPr marL="343080" indent="-343080">
              <a:lnSpc>
                <a:spcPct val="103000"/>
              </a:lnSpc>
              <a:spcAft>
                <a:spcPts val="1599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Arial"/>
              </a:rPr>
              <a:t>Using AI safely is a skill worth learning. Let’s look at what can go wrong and how to use AI right.</a:t>
            </a:r>
            <a:endParaRPr b="0" lang="en-GB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1f2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Text 0"/>
          <p:cNvSpPr/>
          <p:nvPr/>
        </p:nvSpPr>
        <p:spPr>
          <a:xfrm>
            <a:off x="567000" y="187452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9" name="Text 1"/>
          <p:cNvSpPr/>
          <p:nvPr/>
        </p:nvSpPr>
        <p:spPr>
          <a:xfrm>
            <a:off x="548640" y="2377440"/>
            <a:ext cx="1106388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5400" spc="-1" strike="noStrike">
                <a:solidFill>
                  <a:srgbClr val="141414"/>
                </a:solidFill>
                <a:latin typeface="Arial"/>
                <a:ea typeface="Arial"/>
              </a:rPr>
              <a:t>When AI Goes Wrong</a:t>
            </a:r>
            <a:endParaRPr b="0" lang="en-GB" sz="5400" spc="-1" strike="noStrike">
              <a:latin typeface="Arial"/>
            </a:endParaRPr>
          </a:p>
        </p:txBody>
      </p:sp>
      <p:sp>
        <p:nvSpPr>
          <p:cNvPr id="90" name="Text 2"/>
          <p:cNvSpPr/>
          <p:nvPr/>
        </p:nvSpPr>
        <p:spPr>
          <a:xfrm>
            <a:off x="567000" y="3657600"/>
            <a:ext cx="1060668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Box 6"/>
          <p:cNvSpPr/>
          <p:nvPr/>
        </p:nvSpPr>
        <p:spPr>
          <a:xfrm>
            <a:off x="403200" y="345240"/>
            <a:ext cx="1127196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GB" sz="4000" spc="-1" strike="noStrike">
                <a:solidFill>
                  <a:srgbClr val="000000"/>
                </a:solidFill>
                <a:latin typeface="Arial"/>
                <a:ea typeface="DejaVu Sans"/>
              </a:rPr>
              <a:t>Chicago Sun-Times reading list</a:t>
            </a:r>
            <a:endParaRPr b="0" lang="en-GB" sz="4000" spc="-1" strike="noStrike">
              <a:latin typeface="Arial"/>
            </a:endParaRPr>
          </a:p>
        </p:txBody>
      </p:sp>
      <p:sp>
        <p:nvSpPr>
          <p:cNvPr id="92" name="Rectangle 4"/>
          <p:cNvSpPr/>
          <p:nvPr/>
        </p:nvSpPr>
        <p:spPr>
          <a:xfrm>
            <a:off x="403200" y="1464840"/>
            <a:ext cx="10718640" cy="30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51080" indent="-343080">
              <a:lnSpc>
                <a:spcPct val="100000"/>
              </a:lnSpc>
              <a:spcAft>
                <a:spcPts val="1060"/>
              </a:spcAft>
              <a:buClr>
                <a:srgbClr val="000000"/>
              </a:buClr>
              <a:buFont typeface="Arial"/>
              <a:buChar char="•"/>
            </a:pPr>
            <a:r>
              <a:rPr b="0" lang="en-GB" sz="2400" spc="-1" strike="noStrike">
                <a:solidFill>
                  <a:srgbClr val="000000"/>
                </a:solidFill>
                <a:latin typeface="Arial"/>
                <a:ea typeface="DejaVu Sans"/>
              </a:rPr>
              <a:t>The Chicago Sun-Times published a reading list which had AI recommendation of books that never existed</a:t>
            </a:r>
            <a:endParaRPr b="0" lang="en-GB" sz="2400" spc="-1" strike="noStrike">
              <a:latin typeface="Arial"/>
            </a:endParaRPr>
          </a:p>
          <a:p>
            <a:pPr marL="451080" indent="-343080">
              <a:lnSpc>
                <a:spcPct val="100000"/>
              </a:lnSpc>
              <a:spcAft>
                <a:spcPts val="1060"/>
              </a:spcAft>
              <a:buClr>
                <a:srgbClr val="000000"/>
              </a:buClr>
              <a:buFont typeface="Arial"/>
              <a:buChar char="•"/>
            </a:pPr>
            <a:r>
              <a:rPr b="0" lang="en-GB" sz="2400" spc="-1" strike="noStrike">
                <a:solidFill>
                  <a:srgbClr val="000000"/>
                </a:solidFill>
                <a:latin typeface="Arial"/>
                <a:ea typeface="DejaVu Sans"/>
              </a:rPr>
              <a:t>The Chicago Sun-Times says it is “committed to making sure this never happens again” </a:t>
            </a:r>
            <a:endParaRPr b="0" lang="en-GB" sz="2400" spc="-1" strike="noStrike">
              <a:latin typeface="Arial"/>
            </a:endParaRPr>
          </a:p>
          <a:p>
            <a:pPr marL="451080" indent="-343080">
              <a:lnSpc>
                <a:spcPct val="100000"/>
              </a:lnSpc>
              <a:spcAft>
                <a:spcPts val="1060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Calibri"/>
              </a:rPr>
              <a:t>AI “hallucinates” - it makes up facts and states them with total confidence. Always fact-check anything important before you trust it or pass it on.</a:t>
            </a:r>
            <a:endParaRPr b="0" lang="en-GB" sz="2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60"/>
              </a:spcAft>
              <a:buNone/>
            </a:pPr>
            <a:endParaRPr b="0" lang="en-GB" sz="2400" spc="-1" strike="noStrike">
              <a:latin typeface="Arial"/>
            </a:endParaRPr>
          </a:p>
        </p:txBody>
      </p:sp>
      <p:sp>
        <p:nvSpPr>
          <p:cNvPr id="93" name="TextBox 3"/>
          <p:cNvSpPr/>
          <p:nvPr/>
        </p:nvSpPr>
        <p:spPr>
          <a:xfrm>
            <a:off x="4929840" y="4690800"/>
            <a:ext cx="655740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i="1" lang="en-GB" sz="1200" spc="-1" strike="noStrike">
                <a:solidFill>
                  <a:srgbClr val="000000"/>
                </a:solidFill>
                <a:latin typeface="Arial"/>
                <a:ea typeface="DejaVu Sans"/>
              </a:rPr>
              <a:t>https://www.theguardian.com/us-news/2025/may/20/chicago-sun-times-ai-summer-reading-list</a:t>
            </a:r>
            <a:endParaRPr b="0" lang="en-GB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extBox 6"/>
          <p:cNvSpPr/>
          <p:nvPr/>
        </p:nvSpPr>
        <p:spPr>
          <a:xfrm>
            <a:off x="403200" y="345240"/>
            <a:ext cx="1127196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4000" spc="-1" strike="noStrike">
                <a:solidFill>
                  <a:srgbClr val="141414"/>
                </a:solidFill>
                <a:latin typeface="Arial"/>
                <a:ea typeface="Arial"/>
              </a:rPr>
              <a:t>An AI coding tool goes rogue</a:t>
            </a:r>
            <a:endParaRPr b="0" lang="en-GB" sz="4000" spc="-1" strike="noStrike">
              <a:latin typeface="Arial"/>
            </a:endParaRPr>
          </a:p>
        </p:txBody>
      </p:sp>
      <p:sp>
        <p:nvSpPr>
          <p:cNvPr id="95" name="Rectangle 4"/>
          <p:cNvSpPr/>
          <p:nvPr/>
        </p:nvSpPr>
        <p:spPr>
          <a:xfrm>
            <a:off x="403200" y="1767240"/>
            <a:ext cx="10718640" cy="340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43080" indent="-343080">
              <a:lnSpc>
                <a:spcPct val="103000"/>
              </a:lnSpc>
              <a:spcAft>
                <a:spcPts val="1800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Arial"/>
              </a:rPr>
              <a:t>An AI coding tool deleted a company’s live database and invented 4,000 fake users</a:t>
            </a:r>
            <a:endParaRPr b="0" lang="en-GB" sz="2400" spc="-1" strike="noStrike">
              <a:latin typeface="Arial"/>
            </a:endParaRPr>
          </a:p>
          <a:p>
            <a:pPr marL="343080" indent="-343080">
              <a:lnSpc>
                <a:spcPct val="103000"/>
              </a:lnSpc>
              <a:spcAft>
                <a:spcPts val="1800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Arial"/>
              </a:rPr>
              <a:t>It ignored the command “DON’T DO IT”, typed 11 times in capital letters, then lied about what it had done</a:t>
            </a:r>
            <a:r>
              <a:rPr b="0" lang="en-GB" sz="24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n-GB" sz="2400" spc="-1" strike="noStrike">
              <a:latin typeface="Arial"/>
            </a:endParaRPr>
          </a:p>
          <a:p>
            <a:pPr marL="343080" indent="-343080">
              <a:lnSpc>
                <a:spcPct val="103000"/>
              </a:lnSpc>
              <a:spcAft>
                <a:spcPts val="1800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Calibri"/>
              </a:rPr>
              <a:t>AI control - 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Arial"/>
              </a:rPr>
              <a:t>never give AI control without human supervision. It may act on its own and even hide or lie about it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Calibri"/>
              </a:rPr>
              <a:t>.</a:t>
            </a:r>
            <a:endParaRPr b="0" lang="en-GB" sz="2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60"/>
              </a:spcAft>
              <a:buNone/>
            </a:pPr>
            <a:endParaRPr b="0" lang="en-GB" sz="2400" spc="-1" strike="noStrike">
              <a:latin typeface="Arial"/>
            </a:endParaRPr>
          </a:p>
        </p:txBody>
      </p:sp>
      <p:sp>
        <p:nvSpPr>
          <p:cNvPr id="96" name="TextBox 3"/>
          <p:cNvSpPr/>
          <p:nvPr/>
        </p:nvSpPr>
        <p:spPr>
          <a:xfrm>
            <a:off x="7331040" y="5090760"/>
            <a:ext cx="41324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i="1" lang="en-US" sz="1200" spc="-1" strike="noStrike">
                <a:solidFill>
                  <a:srgbClr val="3a3a3a"/>
                </a:solidFill>
                <a:latin typeface="Arial"/>
                <a:ea typeface="Arial"/>
              </a:rPr>
              <a:t>https://cybernews.com/ai-news/replit-ai-vive-code-rogue/</a:t>
            </a:r>
            <a:endParaRPr b="0" lang="en-GB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Box 6"/>
          <p:cNvSpPr/>
          <p:nvPr/>
        </p:nvSpPr>
        <p:spPr>
          <a:xfrm>
            <a:off x="403200" y="345240"/>
            <a:ext cx="1127196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4000" spc="-1" strike="noStrike">
                <a:solidFill>
                  <a:srgbClr val="141414"/>
                </a:solidFill>
                <a:latin typeface="Arial"/>
                <a:ea typeface="Arial"/>
              </a:rPr>
              <a:t>$500 million spent in one month</a:t>
            </a:r>
            <a:endParaRPr b="0" lang="en-GB" sz="4000" spc="-1" strike="noStrike">
              <a:latin typeface="Arial"/>
            </a:endParaRPr>
          </a:p>
        </p:txBody>
      </p:sp>
      <p:sp>
        <p:nvSpPr>
          <p:cNvPr id="98" name="Rectangle 4"/>
          <p:cNvSpPr/>
          <p:nvPr/>
        </p:nvSpPr>
        <p:spPr>
          <a:xfrm>
            <a:off x="403200" y="1782720"/>
            <a:ext cx="10718640" cy="255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51080" indent="-343080">
              <a:lnSpc>
                <a:spcPct val="100000"/>
              </a:lnSpc>
              <a:spcAft>
                <a:spcPts val="1060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Arial"/>
              </a:rPr>
              <a:t>One company’s employees spent half a billion dollars on AI in a single month, with no spending limits</a:t>
            </a:r>
            <a:endParaRPr b="0" lang="en-GB" sz="2400" spc="-1" strike="noStrike">
              <a:latin typeface="Arial"/>
            </a:endParaRPr>
          </a:p>
          <a:p>
            <a:pPr marL="451080" indent="-343080">
              <a:lnSpc>
                <a:spcPct val="100000"/>
              </a:lnSpc>
              <a:spcAft>
                <a:spcPts val="1060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The 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Arial"/>
              </a:rPr>
              <a:t>employees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 were allegedly using the AI for trivial task like checking the weather among other things according to the company’s CTO</a:t>
            </a:r>
            <a:endParaRPr b="0" lang="en-GB" sz="2400" spc="-1" strike="noStrike">
              <a:latin typeface="Arial"/>
            </a:endParaRPr>
          </a:p>
          <a:p>
            <a:pPr marL="451080" indent="-343080">
              <a:lnSpc>
                <a:spcPct val="100000"/>
              </a:lnSpc>
              <a:spcAft>
                <a:spcPts val="1060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Arial"/>
              </a:rPr>
              <a:t>Lesson: AI isn’t always the right tool. Use it when it genuinely helps, not just because you can.</a:t>
            </a:r>
            <a:endParaRPr b="0" lang="en-GB" sz="2400" spc="-1" strike="noStrike">
              <a:latin typeface="Arial"/>
            </a:endParaRPr>
          </a:p>
        </p:txBody>
      </p:sp>
      <p:sp>
        <p:nvSpPr>
          <p:cNvPr id="99" name="TextBox 4"/>
          <p:cNvSpPr/>
          <p:nvPr/>
        </p:nvSpPr>
        <p:spPr>
          <a:xfrm>
            <a:off x="5231880" y="4719240"/>
            <a:ext cx="604764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i="1" lang="en-GB" sz="1200" spc="-1" strike="noStrike">
                <a:solidFill>
                  <a:srgbClr val="000000"/>
                </a:solidFill>
                <a:latin typeface="Arial"/>
                <a:ea typeface="DejaVu Sans"/>
              </a:rPr>
              <a:t>https://futurism.com/artificial-intelligence/company-half-billion-dollars-claude-one-month</a:t>
            </a:r>
            <a:endParaRPr b="0" lang="en-GB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extBox 6"/>
          <p:cNvSpPr/>
          <p:nvPr/>
        </p:nvSpPr>
        <p:spPr>
          <a:xfrm>
            <a:off x="403200" y="345240"/>
            <a:ext cx="1127196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4000" spc="-1" strike="noStrike">
                <a:solidFill>
                  <a:srgbClr val="141414"/>
                </a:solidFill>
                <a:latin typeface="Arial"/>
                <a:ea typeface="Arial"/>
              </a:rPr>
              <a:t>NYC’s AI chatbot suggests to break the law</a:t>
            </a:r>
            <a:endParaRPr b="0" lang="en-GB" sz="4000" spc="-1" strike="noStrike">
              <a:latin typeface="Arial"/>
            </a:endParaRPr>
          </a:p>
        </p:txBody>
      </p:sp>
      <p:sp>
        <p:nvSpPr>
          <p:cNvPr id="101" name="Rectangle 4"/>
          <p:cNvSpPr/>
          <p:nvPr/>
        </p:nvSpPr>
        <p:spPr>
          <a:xfrm>
            <a:off x="403200" y="1615680"/>
            <a:ext cx="10718640" cy="29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51080" indent="-343080">
              <a:lnSpc>
                <a:spcPct val="100000"/>
              </a:lnSpc>
              <a:spcAft>
                <a:spcPts val="1060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Arial"/>
              </a:rPr>
              <a:t>New York City launched an official AI chatbot to help </a:t>
            </a:r>
            <a:r>
              <a:rPr b="0" lang="en-GB" sz="2400" spc="-1" strike="noStrike">
                <a:solidFill>
                  <a:srgbClr val="000000"/>
                </a:solidFill>
                <a:latin typeface="Arial"/>
                <a:ea typeface="DejaVu Sans"/>
              </a:rPr>
              <a:t>provide New Yorkers with information on starting and operating a business in the city, 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Arial"/>
              </a:rPr>
              <a:t>but it gave advice that broke the law</a:t>
            </a:r>
            <a:endParaRPr b="0" lang="en-GB" sz="2400" spc="-1" strike="noStrike">
              <a:latin typeface="Arial"/>
            </a:endParaRPr>
          </a:p>
          <a:p>
            <a:pPr marL="451080" indent="-343080">
              <a:lnSpc>
                <a:spcPct val="100000"/>
              </a:lnSpc>
              <a:spcAft>
                <a:spcPts val="1060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1a1a1a"/>
                </a:solidFill>
                <a:latin typeface="Arial"/>
                <a:ea typeface="Arial"/>
              </a:rPr>
              <a:t>It told landlords they could turn away tenants with housing vouchers and told bosses they could take workers’ tips. Both are illegal</a:t>
            </a:r>
            <a:endParaRPr b="0" lang="en-GB" sz="2400" spc="-1" strike="noStrike">
              <a:latin typeface="Arial"/>
            </a:endParaRPr>
          </a:p>
          <a:p>
            <a:pPr marL="451080" indent="-343080">
              <a:lnSpc>
                <a:spcPct val="100000"/>
              </a:lnSpc>
              <a:spcAft>
                <a:spcPts val="1060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Arial"/>
              </a:rPr>
              <a:t>Lesson: </a:t>
            </a:r>
            <a:r>
              <a:rPr b="0" lang="en-US" sz="2400" spc="-1" strike="noStrike">
                <a:solidFill>
                  <a:srgbClr val="1a1a1a"/>
                </a:solidFill>
                <a:latin typeface="Arial"/>
                <a:ea typeface="Arial"/>
              </a:rPr>
              <a:t>AI can sound official and confident while being completely wrong. Don’t trust it on money, rules, or the law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Arial"/>
              </a:rPr>
              <a:t>. Always check an official source</a:t>
            </a:r>
            <a:endParaRPr b="0" lang="en-GB" sz="2400" spc="-1" strike="noStrike">
              <a:latin typeface="Arial"/>
            </a:endParaRPr>
          </a:p>
        </p:txBody>
      </p:sp>
      <p:sp>
        <p:nvSpPr>
          <p:cNvPr id="102" name="TextBox 4"/>
          <p:cNvSpPr/>
          <p:nvPr/>
        </p:nvSpPr>
        <p:spPr>
          <a:xfrm>
            <a:off x="4126680" y="4965120"/>
            <a:ext cx="718452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i="1" lang="en-GB" sz="1200" spc="-1" strike="noStrike">
                <a:solidFill>
                  <a:srgbClr val="000000"/>
                </a:solidFill>
                <a:latin typeface="Arial"/>
                <a:ea typeface="DejaVu Sans"/>
              </a:rPr>
              <a:t>https://themarkup.org/artificial-intelligence/2024/03/29/nycs-ai-chatbot-tells-businesses-to-break-the-law</a:t>
            </a:r>
            <a:endParaRPr b="0" lang="en-GB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TextBox 6"/>
          <p:cNvSpPr/>
          <p:nvPr/>
        </p:nvSpPr>
        <p:spPr>
          <a:xfrm>
            <a:off x="403200" y="345240"/>
            <a:ext cx="1127196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4000" spc="-1" strike="noStrike">
                <a:solidFill>
                  <a:srgbClr val="141414"/>
                </a:solidFill>
                <a:latin typeface="Arial"/>
                <a:ea typeface="Arial"/>
              </a:rPr>
              <a:t>McDonald’s AI kept getting orders wrong</a:t>
            </a:r>
            <a:endParaRPr b="0" lang="en-GB" sz="4000" spc="-1" strike="noStrike">
              <a:latin typeface="Arial"/>
            </a:endParaRPr>
          </a:p>
        </p:txBody>
      </p:sp>
      <p:sp>
        <p:nvSpPr>
          <p:cNvPr id="104" name="Rectangle 4"/>
          <p:cNvSpPr/>
          <p:nvPr/>
        </p:nvSpPr>
        <p:spPr>
          <a:xfrm>
            <a:off x="403200" y="1782720"/>
            <a:ext cx="10718640" cy="32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51080" indent="-343080">
              <a:lnSpc>
                <a:spcPct val="100000"/>
              </a:lnSpc>
              <a:spcAft>
                <a:spcPts val="1060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Arial"/>
              </a:rPr>
              <a:t>McDonald’s tested AI to take orders at over 100 drive-thrus, which was scrapped in 2024</a:t>
            </a:r>
            <a:endParaRPr b="0" lang="en-GB" sz="2400" spc="-1" strike="noStrike">
              <a:latin typeface="Arial"/>
            </a:endParaRPr>
          </a:p>
          <a:p>
            <a:pPr marL="451080" indent="-343080">
              <a:lnSpc>
                <a:spcPct val="100000"/>
              </a:lnSpc>
              <a:spcAft>
                <a:spcPts val="1060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Arial"/>
              </a:rPr>
              <a:t>The AI misheard customers like registering hundreds of chicken nuggets without the customers instruction and added bizarre extras, like bacon on ice cream</a:t>
            </a:r>
            <a:endParaRPr b="0" lang="en-GB" sz="2400" spc="-1" strike="noStrike">
              <a:latin typeface="Arial"/>
            </a:endParaRPr>
          </a:p>
          <a:p>
            <a:pPr marL="451080" indent="-343080">
              <a:lnSpc>
                <a:spcPct val="100000"/>
              </a:lnSpc>
              <a:spcAft>
                <a:spcPts val="1060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Arial"/>
              </a:rPr>
              <a:t>Lesson: AI can struggle in dynamic, real-world situations. It isn’t always ready to replace people. Make sure to test it rigorously keeping  edge cases in mind.</a:t>
            </a:r>
            <a:endParaRPr b="0" lang="en-GB" sz="2400" spc="-1" strike="noStrike">
              <a:latin typeface="Arial"/>
            </a:endParaRPr>
          </a:p>
        </p:txBody>
      </p:sp>
      <p:sp>
        <p:nvSpPr>
          <p:cNvPr id="105" name="TextBox 4"/>
          <p:cNvSpPr/>
          <p:nvPr/>
        </p:nvSpPr>
        <p:spPr>
          <a:xfrm>
            <a:off x="7593480" y="5275800"/>
            <a:ext cx="369396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i="1" lang="en-GB" sz="1200" spc="-1" strike="noStrike">
                <a:solidFill>
                  <a:srgbClr val="000000"/>
                </a:solidFill>
                <a:latin typeface="Arial"/>
                <a:ea typeface="DejaVu Sans"/>
              </a:rPr>
              <a:t>https://www.bbc.co.uk/news/articles/c722gne7qngo</a:t>
            </a:r>
            <a:endParaRPr b="0" lang="en-GB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TextBox 6"/>
          <p:cNvSpPr/>
          <p:nvPr/>
        </p:nvSpPr>
        <p:spPr>
          <a:xfrm>
            <a:off x="403200" y="345240"/>
            <a:ext cx="1127196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4000" spc="-1" strike="noStrike">
                <a:solidFill>
                  <a:srgbClr val="141414"/>
                </a:solidFill>
                <a:latin typeface="Arial"/>
                <a:ea typeface="Arial"/>
              </a:rPr>
              <a:t>Scammers can clone a voice you trust</a:t>
            </a:r>
            <a:endParaRPr b="0" lang="en-GB" sz="4000" spc="-1" strike="noStrike">
              <a:latin typeface="Arial"/>
            </a:endParaRPr>
          </a:p>
        </p:txBody>
      </p:sp>
      <p:sp>
        <p:nvSpPr>
          <p:cNvPr id="107" name="Rectangle 4"/>
          <p:cNvSpPr/>
          <p:nvPr/>
        </p:nvSpPr>
        <p:spPr>
          <a:xfrm>
            <a:off x="403200" y="1782720"/>
            <a:ext cx="10718640" cy="255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51080" indent="-343080">
              <a:lnSpc>
                <a:spcPct val="100000"/>
              </a:lnSpc>
              <a:spcAft>
                <a:spcPts val="1060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Arial"/>
              </a:rPr>
              <a:t>Criminals can copy a person’s voice from a short clip posted online, then call pretending to be them</a:t>
            </a:r>
            <a:endParaRPr b="0" lang="en-GB" sz="2400" spc="-1" strike="noStrike">
              <a:latin typeface="Arial"/>
            </a:endParaRPr>
          </a:p>
          <a:p>
            <a:pPr marL="451080" indent="-343080">
              <a:lnSpc>
                <a:spcPct val="100000"/>
              </a:lnSpc>
              <a:spcAft>
                <a:spcPts val="1060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Arial"/>
              </a:rPr>
              <a:t>A fake call might sound exactly like a family member saying they’re in trouble and need money fast</a:t>
            </a:r>
            <a:endParaRPr b="0" lang="en-GB" sz="2400" spc="-1" strike="noStrike">
              <a:latin typeface="Arial"/>
            </a:endParaRPr>
          </a:p>
          <a:p>
            <a:pPr marL="451080" indent="-343080">
              <a:lnSpc>
                <a:spcPct val="100000"/>
              </a:lnSpc>
              <a:spcAft>
                <a:spcPts val="1060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Arial"/>
              </a:rPr>
              <a:t>Lesson (from the FTC): don’t trust the voice. Hang up and call the person back on a number you know and agree on a family code word.</a:t>
            </a:r>
            <a:endParaRPr b="0" lang="en-GB" sz="2400" spc="-1" strike="noStrike">
              <a:latin typeface="Arial"/>
            </a:endParaRPr>
          </a:p>
        </p:txBody>
      </p:sp>
      <p:sp>
        <p:nvSpPr>
          <p:cNvPr id="108" name="Text 2"/>
          <p:cNvSpPr/>
          <p:nvPr/>
        </p:nvSpPr>
        <p:spPr>
          <a:xfrm>
            <a:off x="3397320" y="5450760"/>
            <a:ext cx="7724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3a3a3a"/>
                </a:solidFill>
                <a:latin typeface="Arial"/>
                <a:ea typeface="Arial"/>
              </a:rPr>
              <a:t>https://consumer.ftc.gov/consumer-alerts/2023/03/scammers-use-ai-enhance-their-family-emergency-schemes</a:t>
            </a:r>
            <a:endParaRPr b="0" lang="en-GB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TextBox 6"/>
          <p:cNvSpPr/>
          <p:nvPr/>
        </p:nvSpPr>
        <p:spPr>
          <a:xfrm>
            <a:off x="403200" y="345240"/>
            <a:ext cx="1127196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4000" spc="-1" strike="noStrike">
                <a:solidFill>
                  <a:srgbClr val="141414"/>
                </a:solidFill>
                <a:latin typeface="Arial"/>
                <a:ea typeface="Arial"/>
              </a:rPr>
              <a:t>Your private AI chats can go public</a:t>
            </a:r>
            <a:endParaRPr b="0" lang="en-GB" sz="4000" spc="-1" strike="noStrike">
              <a:latin typeface="Arial"/>
            </a:endParaRPr>
          </a:p>
        </p:txBody>
      </p:sp>
      <p:sp>
        <p:nvSpPr>
          <p:cNvPr id="110" name="Rectangle 4"/>
          <p:cNvSpPr/>
          <p:nvPr/>
        </p:nvSpPr>
        <p:spPr>
          <a:xfrm>
            <a:off x="403200" y="1782720"/>
            <a:ext cx="10718640" cy="255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51080" indent="-343080">
              <a:lnSpc>
                <a:spcPct val="100000"/>
              </a:lnSpc>
              <a:spcAft>
                <a:spcPts val="1060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Arial"/>
              </a:rPr>
              <a:t>In 2025, hundreds of thousands of people’s chats with Elon Musk’s AI chatbot Grok appeared in Google search results</a:t>
            </a:r>
            <a:endParaRPr b="0" lang="en-GB" sz="2400" spc="-1" strike="noStrike">
              <a:latin typeface="Arial"/>
            </a:endParaRPr>
          </a:p>
          <a:p>
            <a:pPr marL="451080" indent="-343080">
              <a:lnSpc>
                <a:spcPct val="100000"/>
              </a:lnSpc>
              <a:spcAft>
                <a:spcPts val="1060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Arial"/>
              </a:rPr>
              <a:t>Pressing “share” quietly made the chats searchable by anyone, and many revealed private questions about health, money, and personal life</a:t>
            </a:r>
            <a:endParaRPr b="0" lang="en-GB" sz="2400" spc="-1" strike="noStrike">
              <a:latin typeface="Arial"/>
            </a:endParaRPr>
          </a:p>
          <a:p>
            <a:pPr marL="451080" indent="-343080">
              <a:lnSpc>
                <a:spcPct val="100000"/>
              </a:lnSpc>
              <a:spcAft>
                <a:spcPts val="1060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Arial"/>
              </a:rPr>
              <a:t>It happened with ChatGPT and Meta AI too. Lesson: don’t put anything in an AI chat you wouldn’t want the whole world to see.</a:t>
            </a:r>
            <a:endParaRPr b="0" lang="en-GB" sz="2400" spc="-1" strike="noStrike">
              <a:latin typeface="Arial"/>
            </a:endParaRPr>
          </a:p>
        </p:txBody>
      </p:sp>
      <p:sp>
        <p:nvSpPr>
          <p:cNvPr id="111" name="Text 2"/>
          <p:cNvSpPr/>
          <p:nvPr/>
        </p:nvSpPr>
        <p:spPr>
          <a:xfrm>
            <a:off x="3397320" y="5450760"/>
            <a:ext cx="7724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</a:pPr>
            <a:r>
              <a:rPr b="0" i="1" lang="en-US" sz="1200" spc="-1" strike="noStrike">
                <a:solidFill>
                  <a:srgbClr val="3a3a3a"/>
                </a:solidFill>
                <a:latin typeface="Arial"/>
                <a:ea typeface="Arial"/>
              </a:rPr>
              <a:t>https://www.bbc.co.uk/news/articles/cdrkmk00jy0o</a:t>
            </a:r>
            <a:endParaRPr b="0" lang="en-GB" sz="1200" spc="-1" strike="noStrike">
              <a:latin typeface="Arial"/>
            </a:endParaRPr>
          </a:p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endParaRPr b="0" lang="en-GB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TextBox 6"/>
          <p:cNvSpPr/>
          <p:nvPr/>
        </p:nvSpPr>
        <p:spPr>
          <a:xfrm>
            <a:off x="403200" y="345240"/>
            <a:ext cx="1127196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4000" spc="-1" strike="noStrike">
                <a:solidFill>
                  <a:srgbClr val="141414"/>
                </a:solidFill>
                <a:latin typeface="Arial"/>
                <a:ea typeface="Arial"/>
              </a:rPr>
              <a:t>Hackers use AI chatbots too</a:t>
            </a:r>
            <a:endParaRPr b="0" lang="en-GB" sz="4000" spc="-1" strike="noStrike">
              <a:latin typeface="Arial"/>
            </a:endParaRPr>
          </a:p>
        </p:txBody>
      </p:sp>
      <p:sp>
        <p:nvSpPr>
          <p:cNvPr id="113" name="Rectangle 4"/>
          <p:cNvSpPr/>
          <p:nvPr/>
        </p:nvSpPr>
        <p:spPr>
          <a:xfrm>
            <a:off x="403200" y="1782720"/>
            <a:ext cx="10718640" cy="30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51080" indent="-343080">
              <a:lnSpc>
                <a:spcPct val="100000"/>
              </a:lnSpc>
              <a:spcAft>
                <a:spcPts val="1060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Arial"/>
              </a:rPr>
              <a:t>OpenAI and Microsoft caught state-backed hacking groups from Russia, China, Iran, and North Korea using ChatGPT</a:t>
            </a:r>
            <a:endParaRPr b="0" lang="en-GB" sz="2400" spc="-1" strike="noStrike">
              <a:latin typeface="Arial"/>
            </a:endParaRPr>
          </a:p>
          <a:p>
            <a:pPr marL="451080" indent="-343080">
              <a:lnSpc>
                <a:spcPct val="100000"/>
              </a:lnSpc>
              <a:spcAft>
                <a:spcPts val="1060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Arial"/>
              </a:rPr>
              <a:t>They used it for research, writing phishing messages, translating, and help 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with </a:t>
            </a:r>
            <a:r>
              <a:rPr b="0" lang="en-GB" sz="2400" spc="-1" strike="noStrike">
                <a:solidFill>
                  <a:srgbClr val="000000"/>
                </a:solidFill>
                <a:latin typeface="Arial"/>
                <a:ea typeface="DejaVu Sans"/>
              </a:rPr>
              <a:t>social engineering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Arial"/>
              </a:rPr>
              <a:t>and their accounts were shut down</a:t>
            </a:r>
            <a:endParaRPr b="0" lang="en-GB" sz="2400" spc="-1" strike="noStrike">
              <a:latin typeface="Arial"/>
            </a:endParaRPr>
          </a:p>
          <a:p>
            <a:pPr marL="451080" indent="-343080">
              <a:lnSpc>
                <a:spcPct val="100000"/>
              </a:lnSpc>
              <a:spcAft>
                <a:spcPts val="1060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Arial"/>
              </a:rPr>
              <a:t>Lesson: the same AI that helps you can help criminals work faster. AI makes scams and attacks cheaper and more convincing.</a:t>
            </a:r>
            <a:endParaRPr b="0" lang="en-GB" sz="2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60"/>
              </a:spcAft>
              <a:buNone/>
            </a:pPr>
            <a:endParaRPr b="0" lang="en-GB" sz="2400" spc="-1" strike="noStrike">
              <a:latin typeface="Arial"/>
            </a:endParaRPr>
          </a:p>
        </p:txBody>
      </p:sp>
      <p:sp>
        <p:nvSpPr>
          <p:cNvPr id="114" name="Text 2"/>
          <p:cNvSpPr/>
          <p:nvPr/>
        </p:nvSpPr>
        <p:spPr>
          <a:xfrm>
            <a:off x="3397320" y="5450760"/>
            <a:ext cx="7724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</a:pPr>
            <a:r>
              <a:rPr b="0" i="1" lang="en-US" sz="1200" spc="-1" strike="noStrike">
                <a:solidFill>
                  <a:srgbClr val="3a3a3a"/>
                </a:solidFill>
                <a:latin typeface="Arial"/>
                <a:ea typeface="Arial"/>
              </a:rPr>
              <a:t>https://www.bleepingcomputer.com/news/security/openai-blocks-state-sponsored-hackers-from-using-chatgpt/</a:t>
            </a:r>
            <a:endParaRPr b="0" lang="en-GB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1f2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Text 0"/>
          <p:cNvSpPr/>
          <p:nvPr/>
        </p:nvSpPr>
        <p:spPr>
          <a:xfrm>
            <a:off x="567000" y="187452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6" name="Text 1"/>
          <p:cNvSpPr/>
          <p:nvPr/>
        </p:nvSpPr>
        <p:spPr>
          <a:xfrm>
            <a:off x="548640" y="2377440"/>
            <a:ext cx="1106388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5400" spc="-1" strike="noStrike">
                <a:solidFill>
                  <a:srgbClr val="141414"/>
                </a:solidFill>
                <a:latin typeface="Arial"/>
                <a:ea typeface="Arial"/>
              </a:rPr>
              <a:t>How to Stay Safe</a:t>
            </a:r>
            <a:endParaRPr b="0" lang="en-GB" sz="5400" spc="-1" strike="noStrike">
              <a:latin typeface="Arial"/>
            </a:endParaRPr>
          </a:p>
        </p:txBody>
      </p:sp>
      <p:sp>
        <p:nvSpPr>
          <p:cNvPr id="117" name="Text 2"/>
          <p:cNvSpPr/>
          <p:nvPr/>
        </p:nvSpPr>
        <p:spPr>
          <a:xfrm>
            <a:off x="567000" y="3657600"/>
            <a:ext cx="1060668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1f2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Text 0"/>
          <p:cNvSpPr/>
          <p:nvPr/>
        </p:nvSpPr>
        <p:spPr>
          <a:xfrm>
            <a:off x="548640" y="365760"/>
            <a:ext cx="110638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141414"/>
                </a:solidFill>
                <a:latin typeface="Arial"/>
                <a:ea typeface="Arial"/>
              </a:rPr>
              <a:t>How to use AI the right way</a:t>
            </a:r>
            <a:endParaRPr b="0" lang="en-GB" sz="4000" spc="-1" strike="noStrike">
              <a:latin typeface="Arial"/>
            </a:endParaRPr>
          </a:p>
        </p:txBody>
      </p:sp>
      <p:sp>
        <p:nvSpPr>
          <p:cNvPr id="119" name="Text 1"/>
          <p:cNvSpPr/>
          <p:nvPr/>
        </p:nvSpPr>
        <p:spPr>
          <a:xfrm>
            <a:off x="548640" y="1828800"/>
            <a:ext cx="11091240" cy="268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>
              <a:lnSpc>
                <a:spcPct val="103000"/>
              </a:lnSpc>
              <a:spcAft>
                <a:spcPts val="1599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2200" spc="-1" strike="noStrike">
                <a:solidFill>
                  <a:srgbClr val="000000"/>
                </a:solidFill>
                <a:latin typeface="Arial"/>
                <a:ea typeface="Arial"/>
              </a:rPr>
              <a:t>Fact-check everything because AI confidently makes things up</a:t>
            </a:r>
            <a:endParaRPr b="0" lang="en-GB" sz="2200" spc="-1" strike="noStrike">
              <a:latin typeface="Arial"/>
            </a:endParaRPr>
          </a:p>
          <a:p>
            <a:pPr marL="343080" indent="-343080">
              <a:lnSpc>
                <a:spcPct val="103000"/>
              </a:lnSpc>
              <a:spcAft>
                <a:spcPts val="1599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2200" spc="-1" strike="noStrike">
                <a:solidFill>
                  <a:srgbClr val="000000"/>
                </a:solidFill>
                <a:latin typeface="Arial"/>
                <a:ea typeface="Arial"/>
              </a:rPr>
              <a:t>Keep a human reviewing AI’s work</a:t>
            </a:r>
            <a:endParaRPr b="0" lang="en-GB" sz="2200" spc="-1" strike="noStrike">
              <a:latin typeface="Arial"/>
            </a:endParaRPr>
          </a:p>
          <a:p>
            <a:pPr marL="343080" indent="-343080">
              <a:lnSpc>
                <a:spcPct val="103000"/>
              </a:lnSpc>
              <a:spcAft>
                <a:spcPts val="1599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2200" spc="-1" strike="noStrike">
                <a:solidFill>
                  <a:srgbClr val="000000"/>
                </a:solidFill>
                <a:latin typeface="Arial"/>
                <a:ea typeface="Arial"/>
              </a:rPr>
              <a:t>Reach for AI when it genuinely helps, not just because you can</a:t>
            </a:r>
            <a:endParaRPr b="0" lang="en-GB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1f2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Text 0"/>
          <p:cNvSpPr/>
          <p:nvPr/>
        </p:nvSpPr>
        <p:spPr>
          <a:xfrm>
            <a:off x="548640" y="365760"/>
            <a:ext cx="110638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141414"/>
                </a:solidFill>
                <a:latin typeface="Arial"/>
                <a:ea typeface="Arial"/>
              </a:rPr>
              <a:t>Your AI safety checklist</a:t>
            </a:r>
            <a:endParaRPr b="0" lang="en-GB" sz="4000" spc="-1" strike="noStrike">
              <a:latin typeface="Arial"/>
            </a:endParaRPr>
          </a:p>
        </p:txBody>
      </p:sp>
      <p:sp>
        <p:nvSpPr>
          <p:cNvPr id="121" name="Text 1"/>
          <p:cNvSpPr/>
          <p:nvPr/>
        </p:nvSpPr>
        <p:spPr>
          <a:xfrm>
            <a:off x="548640" y="1828800"/>
            <a:ext cx="11091240" cy="342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>
              <a:lnSpc>
                <a:spcPct val="103000"/>
              </a:lnSpc>
              <a:spcAft>
                <a:spcPts val="1599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2200" spc="-1" strike="noStrike">
                <a:solidFill>
                  <a:srgbClr val="000000"/>
                </a:solidFill>
                <a:latin typeface="Arial"/>
                <a:ea typeface="Arial"/>
              </a:rPr>
              <a:t>Protect your privacy, never give a chatbot your passwords or address</a:t>
            </a:r>
            <a:endParaRPr b="0" lang="en-GB" sz="2200" spc="-1" strike="noStrike">
              <a:latin typeface="Arial"/>
            </a:endParaRPr>
          </a:p>
          <a:p>
            <a:pPr marL="343080" indent="-343080">
              <a:lnSpc>
                <a:spcPct val="103000"/>
              </a:lnSpc>
              <a:spcAft>
                <a:spcPts val="1599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2200" spc="-1" strike="noStrike">
                <a:solidFill>
                  <a:srgbClr val="000000"/>
                </a:solidFill>
                <a:latin typeface="Arial"/>
                <a:ea typeface="Arial"/>
              </a:rPr>
              <a:t>Be suspicious of confident answers that have no sources</a:t>
            </a:r>
            <a:endParaRPr b="0" lang="en-GB" sz="2200" spc="-1" strike="noStrike">
              <a:latin typeface="Arial"/>
            </a:endParaRPr>
          </a:p>
          <a:p>
            <a:pPr marL="343080" indent="-343080">
              <a:lnSpc>
                <a:spcPct val="103000"/>
              </a:lnSpc>
              <a:spcAft>
                <a:spcPts val="1599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2200" spc="-1" strike="noStrike">
                <a:solidFill>
                  <a:srgbClr val="000000"/>
                </a:solidFill>
                <a:latin typeface="Arial"/>
                <a:ea typeface="Arial"/>
              </a:rPr>
              <a:t>Double-check everything with a trusted, official source</a:t>
            </a:r>
            <a:endParaRPr b="0" lang="en-GB" sz="2200" spc="-1" strike="noStrike">
              <a:latin typeface="Arial"/>
            </a:endParaRPr>
          </a:p>
          <a:p>
            <a:pPr marL="343080" indent="-343080">
              <a:lnSpc>
                <a:spcPct val="103000"/>
              </a:lnSpc>
              <a:spcAft>
                <a:spcPts val="1599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2200" spc="-1" strike="noStrike">
                <a:solidFill>
                  <a:srgbClr val="000000"/>
                </a:solidFill>
                <a:latin typeface="Arial"/>
                <a:ea typeface="Arial"/>
              </a:rPr>
              <a:t>Verify unexpected calls or messages, a familiar voice or name can be faked</a:t>
            </a:r>
            <a:endParaRPr b="0" lang="en-GB" sz="2200" spc="-1" strike="noStrike">
              <a:latin typeface="Arial"/>
            </a:endParaRPr>
          </a:p>
          <a:p>
            <a:pPr marL="343080" indent="-343080">
              <a:lnSpc>
                <a:spcPct val="103000"/>
              </a:lnSpc>
              <a:spcAft>
                <a:spcPts val="1599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2200" spc="-1" strike="noStrike">
                <a:solidFill>
                  <a:srgbClr val="000000"/>
                </a:solidFill>
                <a:latin typeface="Arial"/>
                <a:ea typeface="Arial"/>
              </a:rPr>
              <a:t>You’re responsible for what you do with AI’s answers, not the AI</a:t>
            </a:r>
            <a:endParaRPr b="0" lang="en-GB" sz="2200" spc="-1" strike="noStrike">
              <a:latin typeface="Arial"/>
            </a:endParaRPr>
          </a:p>
          <a:p>
            <a:pPr marL="343080" indent="-343080">
              <a:lnSpc>
                <a:spcPct val="103000"/>
              </a:lnSpc>
              <a:spcAft>
                <a:spcPts val="1599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2200" spc="-1" strike="noStrike">
                <a:solidFill>
                  <a:srgbClr val="000000"/>
                </a:solidFill>
                <a:latin typeface="Arial"/>
                <a:ea typeface="Arial"/>
              </a:rPr>
              <a:t>When in doubt, ask a teacher, parent, or an adult you trust</a:t>
            </a:r>
            <a:endParaRPr b="0" lang="en-GB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1f2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Text 0"/>
          <p:cNvSpPr/>
          <p:nvPr/>
        </p:nvSpPr>
        <p:spPr>
          <a:xfrm>
            <a:off x="548640" y="365760"/>
            <a:ext cx="110638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141414"/>
                </a:solidFill>
                <a:latin typeface="Arial"/>
                <a:ea typeface="Arial"/>
              </a:rPr>
              <a:t>The bottom line</a:t>
            </a:r>
            <a:endParaRPr b="0" lang="en-GB" sz="4000" spc="-1" strike="noStrike">
              <a:latin typeface="Arial"/>
            </a:endParaRPr>
          </a:p>
        </p:txBody>
      </p:sp>
      <p:sp>
        <p:nvSpPr>
          <p:cNvPr id="123" name="Text 1"/>
          <p:cNvSpPr/>
          <p:nvPr/>
        </p:nvSpPr>
        <p:spPr>
          <a:xfrm>
            <a:off x="548640" y="1828800"/>
            <a:ext cx="11091240" cy="230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>
              <a:lnSpc>
                <a:spcPct val="103000"/>
              </a:lnSpc>
              <a:spcAft>
                <a:spcPts val="1599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2200" spc="-1" strike="noStrike">
                <a:solidFill>
                  <a:srgbClr val="000000"/>
                </a:solidFill>
                <a:latin typeface="Arial"/>
                <a:ea typeface="Arial"/>
              </a:rPr>
              <a:t>AI is a genuinely powerful tool. It can help you learn and create</a:t>
            </a:r>
            <a:endParaRPr b="0" lang="en-GB" sz="2200" spc="-1" strike="noStrike">
              <a:latin typeface="Arial"/>
            </a:endParaRPr>
          </a:p>
          <a:p>
            <a:pPr marL="343080" indent="-343080">
              <a:lnSpc>
                <a:spcPct val="103000"/>
              </a:lnSpc>
              <a:spcAft>
                <a:spcPts val="1599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2200" spc="-1" strike="noStrike">
                <a:solidFill>
                  <a:srgbClr val="000000"/>
                </a:solidFill>
                <a:latin typeface="Arial"/>
                <a:ea typeface="Arial"/>
              </a:rPr>
              <a:t>But it makes mistakes, and you are always responsible for how it’s used</a:t>
            </a:r>
            <a:endParaRPr b="0" lang="en-GB" sz="2200" spc="-1" strike="noStrike">
              <a:latin typeface="Arial"/>
            </a:endParaRPr>
          </a:p>
          <a:p>
            <a:pPr marL="343080" indent="-343080">
              <a:lnSpc>
                <a:spcPct val="103000"/>
              </a:lnSpc>
              <a:spcAft>
                <a:spcPts val="1599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2200" spc="-1" strike="noStrike">
                <a:solidFill>
                  <a:srgbClr val="000000"/>
                </a:solidFill>
                <a:latin typeface="Arial"/>
                <a:ea typeface="Arial"/>
              </a:rPr>
              <a:t>Use it, question it, and stay in charge that’s what using AI safely means</a:t>
            </a:r>
            <a:endParaRPr b="0" lang="en-GB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bg>
      <p:bgPr>
        <a:solidFill>
          <a:srgbClr val="f1f2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TextBox 2"/>
          <p:cNvSpPr/>
          <p:nvPr/>
        </p:nvSpPr>
        <p:spPr>
          <a:xfrm>
            <a:off x="1012680" y="3096000"/>
            <a:ext cx="4564080" cy="82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4800" spc="-151" strike="noStrike">
                <a:solidFill>
                  <a:srgbClr val="002060"/>
                </a:solidFill>
                <a:latin typeface="Arial"/>
                <a:ea typeface="DejaVu Sans"/>
              </a:rPr>
              <a:t>Thank you</a:t>
            </a:r>
            <a:endParaRPr b="0" lang="en-GB" sz="4800" spc="-1" strike="noStrike">
              <a:latin typeface="Arial"/>
            </a:endParaRPr>
          </a:p>
        </p:txBody>
      </p:sp>
      <p:sp>
        <p:nvSpPr>
          <p:cNvPr id="125" name="Rectangle 20"/>
          <p:cNvSpPr/>
          <p:nvPr/>
        </p:nvSpPr>
        <p:spPr>
          <a:xfrm>
            <a:off x="378000" y="5565600"/>
            <a:ext cx="339192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GB" sz="1600" spc="-1" strike="noStrike">
                <a:solidFill>
                  <a:srgbClr val="2e2c61"/>
                </a:solidFill>
                <a:latin typeface="Arial"/>
                <a:ea typeface="DejaVu Sans"/>
              </a:rPr>
              <a:t>Rahul.Siddalingappa@stfc.ac.uk</a:t>
            </a:r>
            <a:endParaRPr b="0" lang="en-GB" sz="1600" spc="-1" strike="noStrike">
              <a:latin typeface="Arial"/>
            </a:endParaRPr>
          </a:p>
        </p:txBody>
      </p:sp>
      <p:pic>
        <p:nvPicPr>
          <p:cNvPr id="126" name="Picture 11" descr=""/>
          <p:cNvPicPr/>
          <p:nvPr/>
        </p:nvPicPr>
        <p:blipFill>
          <a:blip r:embed="rId1"/>
          <a:stretch/>
        </p:blipFill>
        <p:spPr>
          <a:xfrm>
            <a:off x="151200" y="140400"/>
            <a:ext cx="3618720" cy="1866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e2c61"/>
      </a:dk2>
      <a:lt2>
        <a:srgbClr val="ffffff"/>
      </a:lt2>
      <a:accent1>
        <a:srgbClr val="1e5df8"/>
      </a:accent1>
      <a:accent2>
        <a:srgbClr val="003088"/>
      </a:accent2>
      <a:accent3>
        <a:srgbClr val="f08900"/>
      </a:accent3>
      <a:accent4>
        <a:srgbClr val="616161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e2c61"/>
      </a:dk2>
      <a:lt2>
        <a:srgbClr val="ffffff"/>
      </a:lt2>
      <a:accent1>
        <a:srgbClr val="1e5df8"/>
      </a:accent1>
      <a:accent2>
        <a:srgbClr val="003088"/>
      </a:accent2>
      <a:accent3>
        <a:srgbClr val="f08900"/>
      </a:accent3>
      <a:accent4>
        <a:srgbClr val="616161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e2c61"/>
      </a:dk2>
      <a:lt2>
        <a:srgbClr val="ffffff"/>
      </a:lt2>
      <a:accent1>
        <a:srgbClr val="1e5df8"/>
      </a:accent1>
      <a:accent2>
        <a:srgbClr val="003088"/>
      </a:accent2>
      <a:accent3>
        <a:srgbClr val="f08900"/>
      </a:accent3>
      <a:accent4>
        <a:srgbClr val="616161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8517</TotalTime>
  <Application>LibreOffice/7.3.7.2$Linux_X86_64 LibreOffice_project/30$Build-2</Application>
  <AppVersion>15.0000</AppVersion>
  <Words>1071</Words>
  <Paragraphs>86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2019-09-17T08:04:08Z</dcterms:created>
  <dc:creator>Philip Millard</dc:creator>
  <dc:description/>
  <dc:language>en-GB</dc:language>
  <cp:lastModifiedBy/>
  <cp:lastPrinted>2019-10-02T08:27:37Z</cp:lastPrinted>
  <dcterms:modified xsi:type="dcterms:W3CDTF">2026-07-20T13:51:14Z</dcterms:modified>
  <cp:revision>303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0x0101005038DED1542C1943A1290884108DB0E9</vt:lpwstr>
  </property>
  <property fmtid="{D5CDD505-2E9C-101B-9397-08002B2CF9AE}" pid="3" name="Notes">
    <vt:i4>17</vt:i4>
  </property>
  <property fmtid="{D5CDD505-2E9C-101B-9397-08002B2CF9AE}" pid="4" name="PresentationFormat">
    <vt:lpwstr>Widescreen</vt:lpwstr>
  </property>
  <property fmtid="{D5CDD505-2E9C-101B-9397-08002B2CF9AE}" pid="5" name="Slides">
    <vt:i4>17</vt:i4>
  </property>
  <property fmtid="{D5CDD505-2E9C-101B-9397-08002B2CF9AE}" pid="6" name="_dlc_DocIdItemGuid">
    <vt:lpwstr>135feeb0-1e46-4549-be51-f2caa8a23389</vt:lpwstr>
  </property>
</Properties>
</file>